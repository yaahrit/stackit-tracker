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44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8072"/>
          </a:xfrm>
          <a:prstGeom prst="rect">
            <a:avLst/>
          </a:prstGeom>
          <a:solidFill>
            <a:srgbClr val="E8651A">
              <a:alpha val="12000"/>
            </a:srgbClr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8072"/>
          </a:xfrm>
          <a:prstGeom prst="rect">
            <a:avLst/>
          </a:prstGeom>
          <a:solidFill>
            <a:srgbClr val="E8651A">
              <a:alpha val="25000"/>
            </a:srgbClr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10972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28016"/>
            <a:ext cx="3108960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| Master of Computer Application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AI-Powered Developer Ecosystem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320040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Shivayach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(2401320140191)  |  </a:t>
            </a:r>
            <a:r>
              <a:rPr lang="en-US" sz="11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Rehana Parween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(2401320140139)  |  </a:t>
            </a:r>
            <a:r>
              <a:rPr lang="en-US" sz="11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Raj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(2401320140197)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Abdul Alim   |   Co-Supervisor: Mr. Harendra Singh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Institute of Technology, Greater Noida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E1E3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606040" y="44805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E1E3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060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63440" y="44805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E1E3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720840" y="44805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E1E3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417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417320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0352" y="1417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78992" y="14813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78992" y="1764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StackIt &amp; Why it matters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225856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258568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0352" y="22585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078992" y="2322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78992" y="2606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&amp; identified gaps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5760" y="30998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" y="3099816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0352" y="30998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078992" y="31638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992" y="34472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developer challenges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65760" y="394106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65760" y="3941064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0352" y="39410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078992" y="40050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78992" y="4288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SDLC approach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00600" y="1417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800600" y="1417320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965192" y="1417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5513832" y="14813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513832" y="1764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 &amp; tech stack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00600" y="225856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800600" y="2258568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965192" y="22585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5513832" y="2322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&amp; AI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513832" y="2606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AI Innovation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800600" y="30998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4800600" y="3099816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65192" y="30998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5" name="Text 41"/>
          <p:cNvSpPr/>
          <p:nvPr/>
        </p:nvSpPr>
        <p:spPr>
          <a:xfrm>
            <a:off x="5513832" y="31638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Implementation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5513832" y="34472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team roles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800600" y="394106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4800600" y="3941064"/>
            <a:ext cx="64008" cy="7132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965192" y="39410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50" name="Text 46"/>
          <p:cNvSpPr/>
          <p:nvPr/>
        </p:nvSpPr>
        <p:spPr>
          <a:xfrm>
            <a:off x="5513832" y="40050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513832" y="4288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41732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417320"/>
            <a:ext cx="64008" cy="14173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1463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StackIt?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" y="181051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is a high-performance developer productivity platform designed to manage complex technology ecosystems. It acts as an Intelligent Mentor, guiding developers through their career journey via a unified dashboard.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141732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77840" y="1417320"/>
            <a:ext cx="64008" cy="1417320"/>
          </a:xfrm>
          <a:prstGeom prst="rect">
            <a:avLst/>
          </a:prstGeom>
          <a:solidFill>
            <a:srgbClr val="F4894A"/>
          </a:solidFill>
          <a:ln w="12700">
            <a:solidFill>
              <a:srgbClr val="F489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StackIt?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0644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3500" indent="-635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stack &amp; project management</a:t>
            </a:r>
            <a:endParaRPr lang="en-US" sz="950" dirty="0"/>
          </a:p>
          <a:p>
            <a:pPr marL="63500" indent="-635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skill recommendations</a:t>
            </a:r>
            <a:endParaRPr lang="en-US" sz="950" dirty="0"/>
          </a:p>
          <a:p>
            <a:pPr marL="63500" indent="-635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productivity analytics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971800"/>
            <a:ext cx="2606040" cy="41148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3383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36576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64408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64408" y="2971800"/>
            <a:ext cx="2606040" cy="41148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64408" y="3383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7" name="Text 23"/>
          <p:cNvSpPr/>
          <p:nvPr/>
        </p:nvSpPr>
        <p:spPr>
          <a:xfrm>
            <a:off x="3264408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163056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63056" y="2971800"/>
            <a:ext cx="2606040" cy="41148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63056" y="3383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31" name="Text 27"/>
          <p:cNvSpPr/>
          <p:nvPr/>
        </p:nvSpPr>
        <p:spPr>
          <a:xfrm>
            <a:off x="61630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Layers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/ Related Work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4173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417320"/>
            <a:ext cx="64008" cy="146304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issue tracking. Strong in team workflows but no developer skill tracking.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2423160"/>
            <a:ext cx="3749040" cy="292608"/>
          </a:xfrm>
          <a:prstGeom prst="rect">
            <a:avLst/>
          </a:prstGeom>
          <a:solidFill>
            <a:srgbClr val="FFF0E8"/>
          </a:solidFill>
          <a:ln w="12700">
            <a:solidFill>
              <a:srgbClr val="FFD0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4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Gap: No skill mastery view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00600" y="14173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0600" y="1417320"/>
            <a:ext cx="64008" cy="146304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8348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task management. Simple and visual but lacks technical stack awareness.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983480" y="2423160"/>
            <a:ext cx="3749040" cy="292608"/>
          </a:xfrm>
          <a:prstGeom prst="rect">
            <a:avLst/>
          </a:prstGeom>
          <a:solidFill>
            <a:srgbClr val="FFF0E8"/>
          </a:solidFill>
          <a:ln w="12700">
            <a:solidFill>
              <a:srgbClr val="FFD0B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83480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4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Gap: No tech stack integration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65760" y="30632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063240"/>
            <a:ext cx="64008" cy="146304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864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48640" y="3474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code collaboration. Great for code history but no productivity metrics.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8640" y="4069080"/>
            <a:ext cx="3749040" cy="292608"/>
          </a:xfrm>
          <a:prstGeom prst="rect">
            <a:avLst/>
          </a:prstGeom>
          <a:solidFill>
            <a:srgbClr val="FFF0E8"/>
          </a:solidFill>
          <a:ln w="12700">
            <a:solidFill>
              <a:srgbClr val="FFD0B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4069080"/>
            <a:ext cx="3749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4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Gap: No productivity scoring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800600" y="30632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800600" y="3063240"/>
            <a:ext cx="64008" cy="146304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8348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983480" y="3474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workspace for notes and databases. Flexible but not developer-specific.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983480" y="4069080"/>
            <a:ext cx="3749040" cy="292608"/>
          </a:xfrm>
          <a:prstGeom prst="rect">
            <a:avLst/>
          </a:prstGeom>
          <a:solidFill>
            <a:srgbClr val="FFF0E8"/>
          </a:solidFill>
          <a:ln w="12700">
            <a:solidFill>
              <a:srgbClr val="FFD0B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83480" y="4069080"/>
            <a:ext cx="3749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4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Gap: No centralized tech tracking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 face significant challenges in managing their evolving technology stacks and tracking progress across multiple concurrent projects.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19659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1965960"/>
            <a:ext cx="2697480" cy="292608"/>
          </a:xfrm>
          <a:prstGeom prst="rect">
            <a:avLst/>
          </a:prstGeom>
          <a:solidFill>
            <a:srgbClr val="E8651A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8912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Overwhelming Tech Choices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8912" y="22951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find it difficult to decide what to learn next due to rapidly evolving ecosystems with no intelligent guidance system.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64408" y="19659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64408" y="1965960"/>
            <a:ext cx="2697480" cy="292608"/>
          </a:xfrm>
          <a:prstGeom prst="rect">
            <a:avLst/>
          </a:prstGeom>
          <a:solidFill>
            <a:srgbClr val="E8651A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Fragmented Project Management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37560" y="22951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projects are managed via disparate tools — spreadsheets, notes — with no synergy between skill growth and project delivery.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163056" y="19659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63056" y="1965960"/>
            <a:ext cx="2697480" cy="292608"/>
          </a:xfrm>
          <a:prstGeom prst="rect">
            <a:avLst/>
          </a:prstGeom>
          <a:solidFill>
            <a:srgbClr val="E8651A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36208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Skill Progression Blindness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236208" y="22951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systematic tracking, developers struggle to measure skill improvement, identify knowledge gaps, or demonstrate growth.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65760" y="33375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5760" y="3337560"/>
            <a:ext cx="2697480" cy="2926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8912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Architectural Misalignment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38912" y="36667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frequently choose incompatible tech stacks (e.g., mismatched DBs for specific backends), leading to technical debt.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264408" y="33375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264408" y="3337560"/>
            <a:ext cx="2697480" cy="2926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3756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Lack of Analytics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337560" y="36667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data-driven insights into productivity patterns, time allocation, and project performance prevents workflow optimization.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163056" y="33375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163056" y="3337560"/>
            <a:ext cx="2697480" cy="2926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36208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No Centralized Platform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236208" y="36667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exists that unifies tech stack management, skill tracking, project delivery, and AI-driven insights for developers.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1353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 — 7-Phase Development Process (12 Weeks)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1737360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173736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Planning &amp; Requirements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520440" y="1792224"/>
            <a:ext cx="914400" cy="22860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26280" y="17373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65760" y="2167128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216712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Design &amp; Architecture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520440" y="2221992"/>
            <a:ext cx="1481328" cy="228600"/>
          </a:xfrm>
          <a:prstGeom prst="rect">
            <a:avLst/>
          </a:prstGeom>
          <a:solidFill>
            <a:srgbClr val="C85010"/>
          </a:solidFill>
          <a:ln w="12700">
            <a:solidFill>
              <a:srgbClr val="C8501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93208" y="216712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65760" y="2596896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259689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Frontend Development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520440" y="2651760"/>
            <a:ext cx="2048256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0136" y="25968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65760" y="3026664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026664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Development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520440" y="3081528"/>
            <a:ext cx="2615184" cy="228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27064" y="302666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65760" y="3456432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345643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Database Implementation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520440" y="3511296"/>
            <a:ext cx="3182112" cy="2286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93992" y="345643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6–8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65760" y="3886200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7200" y="388620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Integration &amp; Testing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520440" y="3941064"/>
            <a:ext cx="3749040" cy="22860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360920" y="388620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65760" y="4315968"/>
            <a:ext cx="3017520" cy="33832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57200" y="431596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Deployment &amp; Documentation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3520440" y="4370832"/>
            <a:ext cx="4315968" cy="22860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927848" y="43159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702552" y="731520"/>
            <a:ext cx="219456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2" name="Shape 38"/>
          <p:cNvSpPr/>
          <p:nvPr/>
        </p:nvSpPr>
        <p:spPr>
          <a:xfrm>
            <a:off x="6624828" y="731520"/>
            <a:ext cx="50292" cy="181508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766560" y="973836"/>
            <a:ext cx="192024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766560" y="433493"/>
            <a:ext cx="1901952" cy="283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Agiloutpute-inspired SDLC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dev phases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QA loops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Team-role distribution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389888"/>
            <a:ext cx="2743200" cy="411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1389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180136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30352" y="187452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46120" y="1389888"/>
            <a:ext cx="2743200" cy="41148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46120" y="1389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246120" y="180136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410712" y="187452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Architecture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1389888"/>
            <a:ext cx="27432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26480" y="1389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26480" y="180136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291072" y="187452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Avatar Store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108960" y="2468880"/>
            <a:ext cx="13716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71800" y="2331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989320" y="2468880"/>
            <a:ext cx="13716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52160" y="2331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65760" y="3840480"/>
            <a:ext cx="64008" cy="77724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436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DB Entities: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94360" y="41879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 •  Technology (Stack + Mastery %)  •  Project (Health Score + Uptime)  •  Goal (Milestone Progress)  |  PostgreSQL TEXT for Base64 avatars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&amp; Advanced AI Module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1389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Modules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1755648"/>
            <a:ext cx="347472" cy="42062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17556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49808" y="1755648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77824" y="175564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&amp; Authentication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322576"/>
            <a:ext cx="347472" cy="42062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23225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49808" y="2322576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77824" y="232257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Management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2889504"/>
            <a:ext cx="347472" cy="42062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28895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49808" y="2889504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77824" y="28895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&amp; Timeline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5760" y="3456432"/>
            <a:ext cx="347472" cy="42062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5760" y="345643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49808" y="3456432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877824" y="345643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Milestones Module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65760" y="4023360"/>
            <a:ext cx="347472" cy="42062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5760" y="402336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49808" y="402336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877824" y="402336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46320" y="1389888"/>
            <a:ext cx="3931920" cy="3657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46320" y="1389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Advanced AI Module — Core Innovation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846320" y="1828800"/>
            <a:ext cx="320040" cy="493776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46320" y="1828800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166360" y="1828800"/>
            <a:ext cx="3611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5257800" y="18470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Recommendation Engine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5257800" y="20756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mastery levels and suggests 5 niche technologies (GraphQL, Redis, etc.)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846320" y="2432304"/>
            <a:ext cx="320040" cy="493776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46320" y="2432304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166360" y="2432304"/>
            <a:ext cx="3611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5257800" y="24505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Insights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5257800" y="26791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real-time Productivity Score from Stack delivery &amp; Goal completion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4846320" y="3035808"/>
            <a:ext cx="320040" cy="493776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846320" y="3035808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5166360" y="3035808"/>
            <a:ext cx="3611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5257800" y="30540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Audit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5257800" y="32826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synergy between Frontend, Backend, and DB tech choices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4846320" y="3639312"/>
            <a:ext cx="320040" cy="493776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846320" y="3639312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5166360" y="3639312"/>
            <a:ext cx="3611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5257800" y="36576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 Generator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5257800" y="3886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complex goals into 6-stage milestone-based roadmaps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4846320" y="4242816"/>
            <a:ext cx="320040" cy="493776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846320" y="4242816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5166360" y="4242816"/>
            <a:ext cx="3611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5257800" y="42611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Desc-Infuse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5257800" y="44897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professional mission objectives for new projects using NLP-style logic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Implementation Highlights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389888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389888"/>
            <a:ext cx="64008" cy="74980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1444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UI/UX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" y="1719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Orange-and-Black theme with Outfit/Inter typography, glassmorphism effects, and Framer Motion animations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2258568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258568"/>
            <a:ext cx="64008" cy="74980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2313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4360" y="2587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 sync seamlessly across Sidebar, Top Bar, and Settings via React context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" y="3127248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3127248"/>
            <a:ext cx="64008" cy="74980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3182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Animations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94360" y="3456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transitions for roadmap views, project modals, and AI insight panels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65760" y="3995928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995928"/>
            <a:ext cx="64008" cy="74980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4360" y="4050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9436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endpoints with JWT authentication, role-based access, and error handling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440680" y="1389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40680" y="176479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440680" y="1764792"/>
            <a:ext cx="4572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40680" y="1764792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5989320" y="18379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Shivayach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989320" y="209397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989320" y="23134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&amp; backend services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440680" y="281635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440680" y="2816352"/>
            <a:ext cx="4572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440680" y="2816352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5989320" y="28895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Rehana Parween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989320" y="314553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 Dev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989320" y="33649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architecture &amp; data persistence layer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5440680" y="386791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5440680" y="3867912"/>
            <a:ext cx="457200" cy="914400"/>
          </a:xfrm>
          <a:prstGeom prst="rect">
            <a:avLst/>
          </a:prstGeom>
          <a:solidFill>
            <a:srgbClr val="E8651A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440680" y="3867912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5989320" y="39410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Raj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989320" y="419709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Frontend Dev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989320" y="44165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&amp; user experience design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389888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389888"/>
            <a:ext cx="64008" cy="56692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1389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05840" y="1435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Developer Challenges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05840" y="1682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tackles fragmented tech tracking, skill blindness, and project overload via a unified intelligent platform.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2048256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048256"/>
            <a:ext cx="64008" cy="56692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04825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005840" y="2093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Management Platform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05840" y="2340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integrating stack tracking, project health, AI insights, and productivity scoring.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5760" y="2706624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" y="2706624"/>
            <a:ext cx="64008" cy="56692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270662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005840" y="2752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Excellence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00584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enterprise-grade Spring Boot + React architecture with premium UI, ready for production.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65760" y="3364992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65760" y="3364992"/>
            <a:ext cx="64008" cy="56692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336499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005840" y="3410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Maintainable Architecture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00584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SOA design ensures easy scalability and ability to swap mock AI layer with real Gemini API.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65760" y="402336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65760" y="4023360"/>
            <a:ext cx="64008" cy="56692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48640" y="40233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005840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1005840" y="4315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prepared for real-world deployment with modular architecture for continuous enhancements.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943600" y="1389888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943600" y="1389888"/>
            <a:ext cx="64008" cy="32918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943600" y="1389888"/>
            <a:ext cx="2834640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943600" y="1389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08076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Gemini API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API Syncing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commit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tech ecosystems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PWA version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4" name="Image 0" descr="/home/claude/gni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7724"/>
            <a:ext cx="201168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StackIt Tracker  |  MCA Major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335024"/>
            <a:ext cx="109728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/home/claude/gniot_addres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777740"/>
            <a:ext cx="822960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47731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1508760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1417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Vaswani et al., "Attention is All You Need," Advances in Neural Information Processing Systems, vol. 30, 2017.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365760" y="1947672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18562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Spring Boot Documentation, "Spring Boot Reference Guide," Available: https://docs.spring.io/spring-boot (Accessed: 2024).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365760" y="2386584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22951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React Documentation, "React – A JavaScript Library for Building User Interfaces," Available: https://reactjs.org (Accessed: 2024).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365760" y="2825496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7340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PostgreSQL Global Development Group, "PostgreSQL Documentation," Available: https://www.postgresql.org/docs (Accessed: 2024).</a:t>
            </a:r>
            <a:endParaRPr lang="en-US" sz="920" dirty="0"/>
          </a:p>
        </p:txBody>
      </p:sp>
      <p:sp>
        <p:nvSpPr>
          <p:cNvPr id="20" name="Shape 16"/>
          <p:cNvSpPr/>
          <p:nvPr/>
        </p:nvSpPr>
        <p:spPr>
          <a:xfrm>
            <a:off x="365760" y="3264408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" y="31729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Google AI, "Gemini API Documentation," Available: https://ai.google.dev (Accessed: 2024).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365760" y="3703320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3611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B. Author, "Developer Productivity Metrics in Modern Software Teams," IEEE Trans. Softw. Eng., vol. 48, no. 5, pp. 1234–1250, May 2022.</a:t>
            </a:r>
            <a:endParaRPr lang="en-US" sz="920" dirty="0"/>
          </a:p>
        </p:txBody>
      </p:sp>
      <p:sp>
        <p:nvSpPr>
          <p:cNvPr id="24" name="Shape 20"/>
          <p:cNvSpPr/>
          <p:nvPr/>
        </p:nvSpPr>
        <p:spPr>
          <a:xfrm>
            <a:off x="365760" y="4142232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40507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S. Kumar and R. Agarwal, "AI-Driven Skill Recommendation Systems for Software Developers," in Proc. IEEE ICSE, Melbourne, 2023, pp. 100–110.</a:t>
            </a:r>
            <a:endParaRPr lang="en-US" sz="920" dirty="0"/>
          </a:p>
        </p:txBody>
      </p:sp>
      <p:sp>
        <p:nvSpPr>
          <p:cNvPr id="26" name="Shape 22"/>
          <p:cNvSpPr/>
          <p:nvPr/>
        </p:nvSpPr>
        <p:spPr>
          <a:xfrm>
            <a:off x="365760" y="4581144"/>
            <a:ext cx="36576" cy="25603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448970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JPA/Hibernate Documentation, "Hibernate ORM Documentation," Available: https://hibernate.org/orm/documentation (Accessed: 2024).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1281</Words>
  <Application>Microsoft Office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StackIt Tracker - MCA Major Project</dc:title>
  <dc:subject>PptxGenJS Presentation</dc:subject>
  <dc:creator>PptxGenJS</dc:creator>
  <cp:lastModifiedBy>Yash Raj</cp:lastModifiedBy>
  <cp:revision>2</cp:revision>
  <dcterms:created xsi:type="dcterms:W3CDTF">2026-04-11T03:17:11Z</dcterms:created>
  <dcterms:modified xsi:type="dcterms:W3CDTF">2026-04-12T18:14:21Z</dcterms:modified>
</cp:coreProperties>
</file>